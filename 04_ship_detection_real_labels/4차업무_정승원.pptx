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>
                <a:solidFill>
                  <a:srgbClr val="8F8F8F"/>
                </a:solidFill>
                <a:latin typeface="Cascadia Mono"/>
              </a:rPr>
              <a:t>01 / 데이터셋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76656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>
                <a:solidFill>
                  <a:srgbClr val="171717"/>
                </a:solidFill>
                <a:latin typeface="Pretendard SemiBold"/>
              </a:rPr>
              <a:t>정답이 있는 위성사진을 구했습니다 — 미국 군항 5곳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87221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>
                <a:solidFill>
                  <a:srgbClr val="4D4D4D"/>
                </a:solidFill>
                <a:latin typeface="Pretendard"/>
              </a:rPr>
              <a:t>HRSC2016: 위성사진 1,059장, 배 2,964척마다 사람이 직접 상자를 그려 둔 공개 연구용 자료입니다.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327648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>
                <a:solidFill>
                  <a:srgbClr val="A1A1A1"/>
                </a:solidFill>
                <a:latin typeface="Cascadia Mono"/>
              </a:rPr>
              <a:t>01 /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45920"/>
            <a:ext cx="10872216" cy="178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>
                <a:solidFill>
                  <a:srgbClr val="171717"/>
                </a:solidFill>
                <a:latin typeface="Pretendard SemiBold"/>
              </a:rPr>
              <a:t>어디서 가져왔나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103120"/>
            <a:ext cx="3230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0070F3"/>
                </a:solidFill>
                <a:latin typeface="Cascadia Mono"/>
              </a:rPr>
              <a:t>원본 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331720"/>
            <a:ext cx="3230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>
                <a:solidFill>
                  <a:srgbClr val="171717"/>
                </a:solidFill>
                <a:latin typeface="Pretendard SemiBold"/>
              </a:rPr>
              <a:t>구글어스 (Google Earth)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633472"/>
            <a:ext cx="3230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>
                <a:solidFill>
                  <a:srgbClr val="8F8F8F"/>
                </a:solidFill>
                <a:latin typeface="Pretendard"/>
              </a:rPr>
              <a:t>미국 해군기지 5곳의 위성사진을 화면에서 모은 것.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>
                <a:solidFill>
                  <a:srgbClr val="8F8F8F"/>
                </a:solidFill>
                <a:latin typeface="Pretendard"/>
              </a:rPr>
              <a:t>한 칸이 땅에서 약 0.45 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6448" y="2103120"/>
            <a:ext cx="3230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0070F3"/>
                </a:solidFill>
                <a:latin typeface="Cascadia Mono"/>
              </a:rPr>
              <a:t>정답 상자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6448" y="2331720"/>
            <a:ext cx="3230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>
                <a:solidFill>
                  <a:srgbClr val="171717"/>
                </a:solidFill>
                <a:latin typeface="Pretendard SemiBold"/>
              </a:rPr>
              <a:t>중국 서북공업대 연구진 (HRSC2016, 2017)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6448" y="2633472"/>
            <a:ext cx="3230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>
                <a:solidFill>
                  <a:srgbClr val="8F8F8F"/>
                </a:solidFill>
                <a:latin typeface="Pretendard"/>
              </a:rPr>
              <a:t>사진마다 배 위치를 사람이 직접 상자로 그려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>
                <a:solidFill>
                  <a:srgbClr val="8F8F8F"/>
                </a:solidFill>
                <a:latin typeface="Pretendard"/>
              </a:rPr>
              <a:t>연구용으로 공개. 논문: Liu et al., ICPRAM 2017.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1648" y="2103120"/>
            <a:ext cx="3230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0070F3"/>
                </a:solidFill>
                <a:latin typeface="Cascadia Mono"/>
              </a:rPr>
              <a:t>내려받은 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1648" y="2331720"/>
            <a:ext cx="3230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>
                <a:solidFill>
                  <a:srgbClr val="171717"/>
                </a:solidFill>
                <a:latin typeface="Pretendard SemiBold"/>
              </a:rPr>
              <a:t>Kaggle 의 공개 사본  guofeng/hrsc2016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51648" y="2633472"/>
            <a:ext cx="3230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>
                <a:solidFill>
                  <a:srgbClr val="8F8F8F"/>
                </a:solidFill>
                <a:latin typeface="Pretendard"/>
              </a:rPr>
              <a:t>원본 배포처 사본. 8 GB 압축 파일.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>
                <a:solidFill>
                  <a:srgbClr val="8F8F8F"/>
                </a:solidFill>
                <a:latin typeface="Pretendard"/>
              </a:rPr>
              <a:t>사진 1,680장 + 정답 파일 1,681개.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611880"/>
            <a:ext cx="352044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1248" y="3749039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>
                <a:solidFill>
                  <a:srgbClr val="171717"/>
                </a:solidFill>
                <a:latin typeface="Pretendard SemiBold"/>
              </a:rPr>
              <a:t>왜 이 자료인가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041648"/>
            <a:ext cx="32004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Pretendard"/>
              </a:rPr>
              <a:t>정답이 없으면 '몇 개 맞혔는지' 를 잴 수 없습니다.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Pretendard"/>
              </a:rPr>
              <a:t/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Pretendard"/>
              </a:rPr>
              <a:t>그래서 사람이 정답을 그려 둔 공개 자료 중, 군항처럼 배가 많고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Pretendard"/>
              </a:rPr>
              <a:t>크기가 다양한 곳을 골랐습니다.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4256" y="3611880"/>
            <a:ext cx="352044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517136" y="3749039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>
                <a:solidFill>
                  <a:srgbClr val="171717"/>
                </a:solidFill>
                <a:latin typeface="Pretendard SemiBold"/>
              </a:rPr>
              <a:t>어느 항구인지 직접 알아냈습니다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7136" y="4041648"/>
            <a:ext cx="32004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Pretendard"/>
              </a:rPr>
              <a:t>자료에는 항구 이름이 없고 위도·경도만 있습니다.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Pretendard"/>
              </a:rPr>
              <a:t/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Pretendard"/>
              </a:rPr>
              <a:t>좌표를 지도에 찍어 보니 샌디에이고 · 노퍽 · 메이포트 ·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Pretendard"/>
              </a:rPr>
              <a:t>에버렛 · 뉴포트 해군기지였고, 사진을 눈으로 봐서 확인했습니다.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611880"/>
            <a:ext cx="352044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193024" y="3749039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>
                <a:solidFill>
                  <a:srgbClr val="171717"/>
                </a:solidFill>
                <a:latin typeface="Pretendard SemiBold"/>
              </a:rPr>
              <a:t>사진 한 칸이 땅에서 몇 m 인지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4" y="4041648"/>
            <a:ext cx="32004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Pretendard"/>
              </a:rPr>
              <a:t>자료에 적힌 값(1.07 m)대로면 배가 360 m — 말이 안 됩니다.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Pretendard"/>
              </a:rPr>
              <a:t/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Pretendard"/>
              </a:rPr>
              <a:t>위도와 지도 확대 단계로 다시 계산하니 0.45 m. 이걸로 재면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Pretendard"/>
              </a:rPr>
              <a:t>가장 긴 배가 항공모함 길이(333 m)와 맞습니다.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>
                <a:solidFill>
                  <a:srgbClr val="8F8F8F"/>
                </a:solidFill>
                <a:latin typeface="Cascadia Mono"/>
              </a:rPr>
              <a:t>02 /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76656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>
                <a:solidFill>
                  <a:srgbClr val="171717"/>
                </a:solidFill>
                <a:latin typeface="Pretendard SemiBold"/>
              </a:rPr>
              <a:t>사진 받기 → 정답 정리 → 학습 → 채점 → 웹앱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87221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>
                <a:solidFill>
                  <a:srgbClr val="4D4D4D"/>
                </a:solidFill>
                <a:latin typeface="Pretendard"/>
              </a:rPr>
              <a:t>다섯 단계 전부 코드로 돌아갑니다. 학습만 무료 GPU(Kaggle)를 썼고 나머지는 노트북에서 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327648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>
                <a:solidFill>
                  <a:srgbClr val="A1A1A1"/>
                </a:solidFill>
                <a:latin typeface="Cascadia Mono"/>
              </a:rPr>
              <a:t>02 /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45920"/>
            <a:ext cx="10872216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199156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0070F3"/>
                </a:solidFill>
                <a:latin typeface="Cascadia Mon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199156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>
                <a:solidFill>
                  <a:srgbClr val="171717"/>
                </a:solidFill>
                <a:latin typeface="Pretendard SemiBold"/>
              </a:rPr>
              <a:t>사진 받기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60320"/>
            <a:ext cx="19915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>
                <a:solidFill>
                  <a:srgbClr val="8F8F8F"/>
                </a:solidFill>
                <a:latin typeface="Pretendard"/>
              </a:rPr>
              <a:t>Kaggle 에서 내려받아 압축을 풉니다.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>
                <a:solidFill>
                  <a:srgbClr val="8F8F8F"/>
                </a:solidFill>
                <a:latin typeface="Pretendard"/>
              </a:rPr>
              <a:t>사진 1,680장, 정답 파일 1,681개.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3123" y="2011680"/>
            <a:ext cx="199156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0070F3"/>
                </a:solidFill>
                <a:latin typeface="Cascadia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3123" y="2249424"/>
            <a:ext cx="199156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>
                <a:solidFill>
                  <a:srgbClr val="171717"/>
                </a:solidFill>
                <a:latin typeface="Pretendard SemiBold"/>
              </a:rPr>
              <a:t>정답 정리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3123" y="2560320"/>
            <a:ext cx="19915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>
                <a:solidFill>
                  <a:srgbClr val="8F8F8F"/>
                </a:solidFill>
                <a:latin typeface="Pretendard"/>
              </a:rPr>
              <a:t>정답 상자를 학습 프로그램(YOLO)이 읽는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>
                <a:solidFill>
                  <a:srgbClr val="8F8F8F"/>
                </a:solidFill>
                <a:latin typeface="Pretendard"/>
              </a:rPr>
              <a:t>형식으로 바꾸고, 100장을 그려서 맞는지 확인.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7566" y="2011680"/>
            <a:ext cx="199156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0070F3"/>
                </a:solidFill>
                <a:latin typeface="Cascadia Mon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7566" y="2249424"/>
            <a:ext cx="199156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>
                <a:solidFill>
                  <a:srgbClr val="171717"/>
                </a:solidFill>
                <a:latin typeface="Pretendard SemiBold"/>
              </a:rPr>
              <a:t>학습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7566" y="2560320"/>
            <a:ext cx="19915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>
                <a:solidFill>
                  <a:srgbClr val="8F8F8F"/>
                </a:solidFill>
                <a:latin typeface="Pretendard"/>
              </a:rPr>
              <a:t>사진 429장으로 YOLO 를 가르칩니다.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>
                <a:solidFill>
                  <a:srgbClr val="8F8F8F"/>
                </a:solidFill>
                <a:latin typeface="Pretendard"/>
              </a:rPr>
              <a:t>같은 조건으로 세 번 반복해 운이 아닌지 확인.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2009" y="2011680"/>
            <a:ext cx="199156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0070F3"/>
                </a:solidFill>
                <a:latin typeface="Cascadia Mono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2009" y="2249424"/>
            <a:ext cx="199156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>
                <a:solidFill>
                  <a:srgbClr val="171717"/>
                </a:solidFill>
                <a:latin typeface="Pretendard SemiBold"/>
              </a:rPr>
              <a:t>채점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2009" y="2560320"/>
            <a:ext cx="19915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>
                <a:solidFill>
                  <a:srgbClr val="8F8F8F"/>
                </a:solidFill>
                <a:latin typeface="Pretendard"/>
              </a:rPr>
              <a:t>학습에 안 쓴 사진 451장으로만 채점.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>
                <a:solidFill>
                  <a:srgbClr val="8F8F8F"/>
                </a:solidFill>
                <a:latin typeface="Pretendard"/>
              </a:rPr>
              <a:t>항구마다 따로도 채점.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66452" y="2011680"/>
            <a:ext cx="199156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0070F3"/>
                </a:solidFill>
                <a:latin typeface="Cascadia Mono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66452" y="2249424"/>
            <a:ext cx="199156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>
                <a:solidFill>
                  <a:srgbClr val="171717"/>
                </a:solidFill>
                <a:latin typeface="Pretendard SemiBold"/>
              </a:rPr>
              <a:t>웹앱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66452" y="2560320"/>
            <a:ext cx="19915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>
                <a:solidFill>
                  <a:srgbClr val="8F8F8F"/>
                </a:solidFill>
                <a:latin typeface="Pretendard"/>
              </a:rPr>
              <a:t>항구를 고르고 버튼을 누르면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>
                <a:solidFill>
                  <a:srgbClr val="8F8F8F"/>
                </a:solidFill>
                <a:latin typeface="Pretendard"/>
              </a:rPr>
              <a:t>사진마다 찾은 배와 정답을 겹쳐 보여줍니다.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977639"/>
            <a:ext cx="3520440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41248" y="411480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>
                <a:solidFill>
                  <a:srgbClr val="171717"/>
                </a:solidFill>
                <a:latin typeface="Pretendard SemiBold"/>
              </a:rPr>
              <a:t>박스는 어떤 기준으로 치나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389120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Pretendard"/>
              </a:rPr>
              <a:t>정답 상자: 배 한 척의 선체를 통째로 감싸는 가장 작은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Pretendard"/>
              </a:rPr>
              <a:t>직사각형을, 배가 놓인 방향대로 기울여서 그림 (사람이).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Pretendard"/>
              </a:rPr>
              <a:t/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Pretendard"/>
              </a:rPr>
              <a:t>프로그램 상자: 같은 방식으로 그리되, 확신도 25 % 이상인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Pretendard"/>
              </a:rPr>
              <a:t>것만 남기고 겹치는 상자는 하나로 합칩니다.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34256" y="3977639"/>
            <a:ext cx="3520440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17136" y="411480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>
                <a:solidFill>
                  <a:srgbClr val="171717"/>
                </a:solidFill>
                <a:latin typeface="Pretendard SemiBold"/>
              </a:rPr>
              <a:t>맞혔다고 치는 기준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136" y="4389120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Pretendard"/>
              </a:rPr>
              <a:t>프로그램 상자와 정답 상자가 절반 이상 겹치면(IoU 0.5) 맞힘.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Pretendard"/>
              </a:rPr>
              <a:t>정답 하나에 상자 하나만 인정 — 같은 배를 두 번 찾으면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Pretendard"/>
              </a:rPr>
              <a:t>두 번째는 오탐.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Pretendard"/>
              </a:rPr>
              <a:t/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Pretendard"/>
              </a:rPr>
              <a:t>채점은 학습에 안 쓴 사진 451장으로만 합니다.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0144" y="3977639"/>
            <a:ext cx="3520440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193024" y="411480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>
                <a:solidFill>
                  <a:srgbClr val="171717"/>
                </a:solidFill>
                <a:latin typeface="Pretendard SemiBold"/>
              </a:rPr>
              <a:t>왜 기울인 상자인가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3024" y="4389120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Pretendard"/>
              </a:rPr>
              <a:t>군함은 부두에 비스듬히 대어 있습니다. 똑바른 네모로 감싸면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Pretendard"/>
              </a:rPr>
              <a:t>옆 배와 부두까지 들어가서 길이를 못 잽니다.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Pretendard"/>
              </a:rPr>
              <a:t/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Pretendard"/>
              </a:rPr>
              <a:t>배 방향대로 기울이면 배만 딱 감싸고 길이·폭·방향까지 나옵니다.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>
                <a:solidFill>
                  <a:srgbClr val="8F8F8F"/>
                </a:solidFill>
                <a:latin typeface="Cascadia Mono"/>
              </a:rPr>
              <a:t>03 /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76656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>
                <a:solidFill>
                  <a:srgbClr val="171717"/>
                </a:solidFill>
                <a:latin typeface="Pretendard SemiBold"/>
              </a:rPr>
              <a:t>10척 중 9척 넘게 찾습니다 — 항구 5곳 모두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87221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>
                <a:solidFill>
                  <a:srgbClr val="4D4D4D"/>
                </a:solidFill>
                <a:latin typeface="Pretendard"/>
              </a:rPr>
              <a:t>학습에 안 쓴 사진 451장(배 1,228척)으로 채점. 세 번 학습한 평균이고, 반복마다 차이는 ±0.004 뿐입니다.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327648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>
                <a:solidFill>
                  <a:srgbClr val="A1A1A1"/>
                </a:solidFill>
                <a:latin typeface="Cascadia Mono"/>
              </a:rPr>
              <a:t>03 /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45920"/>
            <a:ext cx="10872216" cy="1051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1810512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8F8F8F"/>
                </a:solidFill>
                <a:latin typeface="Pretendard"/>
              </a:rPr>
              <a:t>찾은 것 중 진짜 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201167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>
                <a:solidFill>
                  <a:srgbClr val="171717"/>
                </a:solidFill>
                <a:latin typeface="Pretendard SemiBold"/>
              </a:rPr>
              <a:t>91.6 %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810512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8F8F8F"/>
                </a:solidFill>
                <a:latin typeface="Pretendard"/>
              </a:rPr>
              <a:t>실제 배 중 찾은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084831"/>
            <a:ext cx="201167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>
                <a:solidFill>
                  <a:srgbClr val="171717"/>
                </a:solidFill>
                <a:latin typeface="Pretendard SemiBold"/>
              </a:rPr>
              <a:t>95.7 %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810512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8F8F8F"/>
                </a:solidFill>
                <a:latin typeface="Pretendard"/>
              </a:rPr>
              <a:t>F1 (둘의 조화평균)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084831"/>
            <a:ext cx="201167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>
                <a:solidFill>
                  <a:srgbClr val="0070F3"/>
                </a:solidFill>
                <a:latin typeface="Pretendard SemiBold"/>
              </a:rPr>
              <a:t>0.936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8F8F8F"/>
                </a:solidFill>
                <a:latin typeface="Pretendard"/>
              </a:rPr>
              <a:t>AP50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084831"/>
            <a:ext cx="201167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>
                <a:solidFill>
                  <a:srgbClr val="171717"/>
                </a:solidFill>
                <a:latin typeface="Pretendard SemiBold"/>
              </a:rPr>
              <a:t>0.970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59" y="1810512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8F8F8F"/>
                </a:solidFill>
                <a:latin typeface="Pretendard"/>
              </a:rPr>
              <a:t>AP50-95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59" y="2084831"/>
            <a:ext cx="201167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>
                <a:solidFill>
                  <a:srgbClr val="171717"/>
                </a:solidFill>
                <a:latin typeface="Pretendard SemiBold"/>
              </a:rPr>
              <a:t>0.770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880360"/>
            <a:ext cx="4480560" cy="3200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1248" y="3017520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>
                <a:solidFill>
                  <a:srgbClr val="171717"/>
                </a:solidFill>
                <a:latin typeface="Pretendard SemiBold"/>
              </a:rPr>
              <a:t>항구별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33756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>
                <a:solidFill>
                  <a:srgbClr val="8F8F8F"/>
                </a:solidFill>
                <a:latin typeface="Pretendard Medium"/>
              </a:rPr>
              <a:t>항구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38528" y="333756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>
                <a:solidFill>
                  <a:srgbClr val="8F8F8F"/>
                </a:solidFill>
                <a:latin typeface="Pretendard Medium"/>
              </a:rPr>
              <a:t>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7168" y="3337560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>
                <a:solidFill>
                  <a:srgbClr val="8F8F8F"/>
                </a:solidFill>
                <a:latin typeface="Pretendard Medium"/>
              </a:rPr>
              <a:t>정확도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72968" y="333756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>
                <a:solidFill>
                  <a:srgbClr val="8F8F8F"/>
                </a:solidFill>
                <a:latin typeface="Pretendard Medium"/>
              </a:rPr>
              <a:t>찾은 비율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04488" y="333756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>
                <a:solidFill>
                  <a:srgbClr val="8F8F8F"/>
                </a:solidFill>
                <a:latin typeface="Pretendard Medium"/>
              </a:rPr>
              <a:t>F1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333756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>
                <a:solidFill>
                  <a:srgbClr val="8F8F8F"/>
                </a:solidFill>
                <a:latin typeface="Pretendard Medium"/>
              </a:rPr>
              <a:t>AP50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3575304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Pretendard"/>
              </a:rPr>
              <a:t>샌디에이고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38528" y="357530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Cascadia Mono"/>
              </a:rPr>
              <a:t>683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87168" y="3575304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Cascadia Mono"/>
              </a:rPr>
              <a:t>92 %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72968" y="357530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Cascadia Mono"/>
              </a:rPr>
              <a:t>95 %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04488" y="3575304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Cascadia Mono"/>
              </a:rPr>
              <a:t>0.937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568" y="3575304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Cascadia Mono"/>
              </a:rPr>
              <a:t>0.966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379933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Pretendard"/>
              </a:rPr>
              <a:t>노퍽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38528" y="379933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Cascadia Mono"/>
              </a:rPr>
              <a:t>308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87168" y="379933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Cascadia Mono"/>
              </a:rPr>
              <a:t>95 %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72968" y="379933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Cascadia Mono"/>
              </a:rPr>
              <a:t>96 %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04488" y="379933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Cascadia Mono"/>
              </a:rPr>
              <a:t>0.955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44568" y="379933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Cascadia Mono"/>
              </a:rPr>
              <a:t>0.986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402336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Pretendard"/>
              </a:rPr>
              <a:t>메이포트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38528" y="402336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Cascadia Mono"/>
              </a:rPr>
              <a:t>160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87168" y="4023360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Cascadia Mono"/>
              </a:rPr>
              <a:t>93 %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72968" y="402336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Cascadia Mono"/>
              </a:rPr>
              <a:t>95 %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04488" y="402336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Cascadia Mono"/>
              </a:rPr>
              <a:t>0.938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44568" y="402336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Cascadia Mono"/>
              </a:rPr>
              <a:t>0.940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" y="424738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Pretendard"/>
              </a:rPr>
              <a:t>에버렛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38528" y="4247388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Cascadia Mono"/>
              </a:rPr>
              <a:t>52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87168" y="424738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Cascadia Mono"/>
              </a:rPr>
              <a:t>84 %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72968" y="424738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Cascadia Mono"/>
              </a:rPr>
              <a:t>100 %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04488" y="424738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Cascadia Mono"/>
              </a:rPr>
              <a:t>0.912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44568" y="424738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Cascadia Mono"/>
              </a:rPr>
              <a:t>0.959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" y="447141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Pretendard"/>
              </a:rPr>
              <a:t>뉴포트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38528" y="447141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Cascadia Mono"/>
              </a:rPr>
              <a:t>23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87168" y="4471416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Cascadia Mono"/>
              </a:rPr>
              <a:t>95 %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72968" y="4471416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Cascadia Mono"/>
              </a:rPr>
              <a:t>87 %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04488" y="447141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Cascadia Mono"/>
              </a:rPr>
              <a:t>0.909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44568" y="447141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solidFill>
                  <a:srgbClr val="4D4D4D"/>
                </a:solidFill>
                <a:latin typeface="Cascadia Mono"/>
              </a:rPr>
              <a:t>0.942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" y="4846320"/>
            <a:ext cx="4206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>
                <a:solidFill>
                  <a:srgbClr val="8F8F8F"/>
                </a:solidFill>
                <a:latin typeface="Pretendard"/>
              </a:rPr>
              <a:t>정확도 = 찾은 것 중 진짜 배의 비율.  찾은 비율 = 실제 배 중 찾아낸 비율.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>
                <a:solidFill>
                  <a:srgbClr val="8F8F8F"/>
                </a:solidFill>
                <a:latin typeface="Pretendard"/>
              </a:rPr>
              <a:t>오른쪽 사진: 노랑 = 사람이 그린 정답, 초록 = 프로그램이 친 상자.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>
                <a:solidFill>
                  <a:srgbClr val="8F8F8F"/>
                </a:solidFill>
                <a:latin typeface="Pretendard"/>
              </a:rPr>
              <a:t>둘이 겹치면 '맞힘', 초록만 있으면 '오탐', 노랑만 있으면 '놓침'.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349240" y="2880360"/>
            <a:ext cx="1993392" cy="168249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8" name="Picture 57" descr="fig1_san_die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103" y="2935224"/>
            <a:ext cx="1883664" cy="137160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5422392" y="4343400"/>
            <a:ext cx="18470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50">
                <a:solidFill>
                  <a:srgbClr val="171717"/>
                </a:solidFill>
                <a:latin typeface="Pretendard Medium"/>
              </a:rPr>
              <a:t>샌디에이고 · 정답 11 · 맞힘 10 · 오탐 2 · 놓침 1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452360" y="2880360"/>
            <a:ext cx="1993392" cy="168249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1" name="Picture 60" descr="fig1_norfol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4" y="2935224"/>
            <a:ext cx="1883664" cy="13716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525512" y="4343400"/>
            <a:ext cx="18470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50">
                <a:solidFill>
                  <a:srgbClr val="171717"/>
                </a:solidFill>
                <a:latin typeface="Pretendard Medium"/>
              </a:rPr>
              <a:t>노퍽 · 정답 7 · 맞힘 7 · 오탐 0 · 놓침 0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555480" y="2880360"/>
            <a:ext cx="1993392" cy="168249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4" name="Picture 63" descr="fig1_may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0344" y="2935224"/>
            <a:ext cx="1883664" cy="137160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628632" y="4343400"/>
            <a:ext cx="18470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50">
                <a:solidFill>
                  <a:srgbClr val="171717"/>
                </a:solidFill>
                <a:latin typeface="Pretendard Medium"/>
              </a:rPr>
              <a:t>메이포트 · 정답 6 · 맞힘 5 · 오탐 0 · 놓침 1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349240" y="4672583"/>
            <a:ext cx="1993392" cy="168249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7" name="Picture 66" descr="fig1_everet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4103" y="4727447"/>
            <a:ext cx="1883664" cy="137160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5422392" y="6135624"/>
            <a:ext cx="18470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50">
                <a:solidFill>
                  <a:srgbClr val="171717"/>
                </a:solidFill>
                <a:latin typeface="Pretendard Medium"/>
              </a:rPr>
              <a:t>에버렛 · 정답 4 · 맞힘 4 · 오탐 1 · 놓침 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452360" y="4672583"/>
            <a:ext cx="1993392" cy="168249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0" name="Picture 69" descr="fig1_newpo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7224" y="4727447"/>
            <a:ext cx="1883664" cy="137160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7525512" y="6135624"/>
            <a:ext cx="18470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50">
                <a:solidFill>
                  <a:srgbClr val="171717"/>
                </a:solidFill>
                <a:latin typeface="Pretendard Medium"/>
              </a:rPr>
              <a:t>뉴포트 · 정답 3 · 맞힘 1 · 오탐 0 · 놓침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
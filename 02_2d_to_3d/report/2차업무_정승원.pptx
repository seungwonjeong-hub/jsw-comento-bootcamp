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영상 한 장으로는 깊이를 알 수 없습니다. 한 시선 위의 점이 전부 같은 화소에 맺히기</a:t>
            </a:r>
          </a:p>
          <a:p>
            <a:r>
              <a:t>때문입니다. 그래서 시점이 두 개 필요합니다.</a:t>
            </a:r>
          </a:p>
          <a:p/>
          <a:p>
            <a:r>
              <a:t>그런데 이 데이터셋은 카메라가 제자리에 고정돼 있습니다. 포즈 라벨 1,000개를 재보니</a:t>
            </a:r>
          </a:p>
          <a:p>
            <a:r>
              <a:t>병진이 항상 0, 0, Z 입니다. 옆으로 1밀리미터도 움직이지 않습니다. 교과서대로면</a:t>
            </a:r>
          </a:p>
          <a:p>
            <a:r>
              <a:t>여기서 삼각측량은 불가능합니다.</a:t>
            </a:r>
          </a:p>
          <a:p/>
          <a:p>
            <a:r>
              <a:t>삼각측량에 필요한 것은 카메라의 절대 운동이 아니라 카메라와 타겟 사이의 상대</a:t>
            </a:r>
          </a:p>
          <a:p>
            <a:r>
              <a:t>운동입니다. 이 데이터셋은 타겟이 매 프레임 무작위로 회전하므로, 타겟을 고정으로 놓고</a:t>
            </a:r>
          </a:p>
          <a:p>
            <a:r>
              <a:t>보면 카메라가 궤도를 돈 것과 같습니다. 두 뷰의 상대 자세를 계산하면 베이스라인이</a:t>
            </a:r>
          </a:p>
          <a:p>
            <a:r>
              <a:t>드러납니다. 회전 4.50도, 거리 5.64미터인 쌍에서 유효 베이스라인</a:t>
            </a:r>
          </a:p>
          <a:p>
            <a:r>
              <a:t>0.366미터를 얻었습니다.</a:t>
            </a:r>
          </a:p>
          <a:p/>
          <a:p>
            <a:r>
              <a:t>이것을 cv2.stereoRectify 에 넣으면 평행 정렬된 쌍이 되어 표준 SGBM 을 그대로 쓸 수</a:t>
            </a:r>
          </a:p>
          <a:p>
            <a:r>
              <a:t>있습니다. 시차 1픽셀이 깊이 6.8센티미터에 해당합니다.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과제 예시의 테스트는 출력 크기와 자료형만 확인합니다. 그것만으로는 수식이 틀려도</a:t>
            </a:r>
          </a:p>
          <a:p>
            <a:r>
              <a:t>통과합니다. 그래서 손으로 풀 수 있는 조건을 만들어 수치까지 대조했습니다.</a:t>
            </a:r>
          </a:p>
          <a:p/>
          <a:p>
            <a:r>
              <a:t>구와 직육면체로 위성을 세우면 광선과 도형의 교차를 해석적으로 풀 수 있습니다.</a:t>
            </a:r>
          </a:p>
          <a:p>
            <a:r>
              <a:t>정답 깊이에 렌더링 오차가 전혀 없으니, 남는 오차는 전부 정합 알고리즘에서 온</a:t>
            </a:r>
          </a:p>
          <a:p>
            <a:r>
              <a:t>것입니다.</a:t>
            </a:r>
          </a:p>
          <a:p/>
          <a:p>
            <a:r>
              <a:t>그림 세 장을 같은 색 범위로 놓았습니다. 왼쪽이 정답 깊이인데 태양전지판 양 끝이</a:t>
            </a:r>
          </a:p>
          <a:p>
            <a:r>
              <a:t>0.90미터 차이 납니다. 가운데 스테레오가 그 차이를 0.92미터로 되살립니다.</a:t>
            </a:r>
          </a:p>
          <a:p>
            <a:r>
              <a:t>오른쪽 과제 예시 코드는 0.019미터, 사실상 평면 하나입니다.</a:t>
            </a:r>
          </a:p>
          <a:p/>
          <a:p>
            <a:r>
              <a:t>테스트는 네 갈래로 시작했습니다. 해석해 대조, 불변식, 실패 특성화, 경계 조건입니다.</a:t>
            </a:r>
          </a:p>
          <a:p>
            <a:r>
              <a:t>여기에 회귀 갈래를 하나 더 붙였습니다. 파이프라인을 검토하면서 실제로 버그를 여러 건</a:t>
            </a:r>
          </a:p>
          <a:p>
            <a:r>
              <a:t>찾았고 전부 테스트가 없던 영역에서 나왔기 때문입니다. 고친 뒤에는 수정을 일부러</a:t>
            </a:r>
          </a:p>
          <a:p>
            <a:r>
              <a:t>되돌려 해당 테스트가 실제로 실패하는지까지 확인했습니다.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2D 에서 3D 로의 변환 결과입니다. 네 장을 왼쪽부터 봐 주십시오.</a:t>
            </a:r>
          </a:p>
          <a:p/>
          <a:p>
            <a:r>
              <a:t>첫 번째가 정답 메시입니다. 두 번째가 경로 A, 영상 두 장으로 만든 스테레오 복원</a:t>
            </a:r>
          </a:p>
          <a:p>
            <a:r>
              <a:t>5,711점입니다. 정확합니다 — 깊이 오차 중앙값이 0.9센티미터입니다. 그런데</a:t>
            </a:r>
          </a:p>
          <a:p>
            <a:r>
              <a:t>정답과 비교해 보시면 한쪽 면만 있습니다. 표면의 28퍼센트입니다.</a:t>
            </a:r>
          </a:p>
          <a:p/>
          <a:p>
            <a:r>
              <a:t>단일 시점이 뒷면을 못 보는 것은 알고리즘 문제가 아니라 원리 문제입니다. 그래서 시점을</a:t>
            </a:r>
          </a:p>
          <a:p>
            <a:r>
              <a:t>늘려 봤습니다. 쌍 선별 조건을 풀어 후보를 121쌍까지 늘리고 전부 융합해도</a:t>
            </a:r>
          </a:p>
          <a:p>
            <a:r>
              <a:t>47퍼센트에서 멈춥니다. 121쌍 중 12쌍만 복원되기 때문입니다. 원인은 쌍 개수가</a:t>
            </a:r>
          </a:p>
          <a:p>
            <a:r>
              <a:t>아니라 무늬 부족이었습니다. 앞 장에서 조명을 뒤집었을 때와 같은 결론입니다.</a:t>
            </a:r>
          </a:p>
          <a:p/>
          <a:p>
            <a:r>
              <a:t>그래서 세 번째, 경로 B 를 함께 만들었습니다. 실루엣과 자세만으로 복셀을 깎는</a:t>
            </a:r>
          </a:p>
          <a:p>
            <a:r>
              <a:t>visual hull 입니다. 무늬가 필요 없으니 스테레오에 최악인 조건이 오히려 유리합니다.</a:t>
            </a:r>
          </a:p>
          <a:p>
            <a:r>
              <a:t>20뷰로 표면의 97퍼센트를 덮습니다.</a:t>
            </a:r>
          </a:p>
          <a:p/>
          <a:p>
            <a:r>
              <a:t>두 경로의 약점이 상보적입니다. A 는 정확하지만 보이는 면만, B 는 전방위지만 실루엣의</a:t>
            </a:r>
          </a:p>
          <a:p>
            <a:r>
              <a:t>교집합이라 오목한 곳을 못 만듭니다. 합치면 98퍼센트입니다.</a:t>
            </a:r>
          </a:p>
          <a:p/>
          <a:p>
            <a:r>
              <a:t>전제가 다르다는 점은 짚어 두겠습니다. B 는 정답 마스크와 정답 자세를 둘 다 씁니다.</a:t>
            </a:r>
          </a:p>
          <a:p>
            <a:r>
              <a:t>A 는 마스크 없이도 동작합니다. 그래서 이 표는 어느 쪽이 낫다는 뜻이 아니라, 덮는</a:t>
            </a:r>
          </a:p>
          <a:p>
            <a:r>
              <a:t>범위와 필요한 입력이 다른 두 경로라는 뜻입니다.</a:t>
            </a:r>
          </a:p>
          <a:p/>
          <a:p>
            <a:r>
              <a:t>맨 오른쪽은 과제 예시 코드입니다. X, Y 가 픽셀 인덱스이고 Z 가 0에서 255 밝기값이라</a:t>
            </a:r>
          </a:p>
          <a:p>
            <a:r>
              <a:t>세 축의 단위가 서로 다릅니다. 납작한 판으로 나옵니다.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개선점입니다. 재 본 것만 적었습니다.</a:t>
            </a:r>
          </a:p>
          <a:p/>
          <a:p>
            <a:r>
              <a:t>가장 큰 약점은 유효화소 60퍼센트입니다. 나머지는 답을 내지 못한 것이지</a:t>
            </a:r>
          </a:p>
          <a:p>
            <a:r>
              <a:t>맞힌 것이 아닙니다. 앞 장의 정확도 수치는 전부 이 안에서 잰 값입니다.</a:t>
            </a:r>
          </a:p>
          <a:p/>
          <a:p>
            <a:r>
              <a:t>첫 번째 후보는 시차 탐색 범위입니다. 타겟의 경계 반지름을 알면 깊이가 어느 구간에</a:t>
            </a:r>
          </a:p>
          <a:p>
            <a:r>
              <a:t>있는지 알고, 따라서 시차도 그렇습니다. 최적 쌍에서 물리적으로 가능한 폭은 24픽셀인데</a:t>
            </a:r>
          </a:p>
          <a:p>
            <a:r>
              <a:t>지금은 144픽셀을 훑고 있습니다. 좁혀 보니 유효화소가 60에서 81퍼센트로</a:t>
            </a:r>
          </a:p>
          <a:p>
            <a:r>
              <a:t>올랐습니다.</a:t>
            </a:r>
          </a:p>
          <a:p/>
          <a:p>
            <a:r>
              <a:t>그런데 공짜가 아닙니다. 다른 쌍에서는 커버리지만 오르고 정확도가 떨어집니다. 탐색</a:t>
            </a:r>
          </a:p>
          <a:p>
            <a:r>
              <a:t>후보가 줄면 uniquenessRatio 검사를 통과하기 쉬워져서, 원래는 기각됐을 애매한 대응이</a:t>
            </a:r>
          </a:p>
          <a:p>
            <a:r>
              <a:t>살아남기 때문입니다. 트레이드오프라 기본값으로 채택하지 않고 측정값만 남겼습니다.</a:t>
            </a:r>
          </a:p>
          <a:p/>
          <a:p>
            <a:r>
              <a:t>두 번째로 아직 안 해 본 것은 스테레오와 카빙을 화소 단위로 합치는 것입니다. 지금은</a:t>
            </a:r>
          </a:p>
          <a:p>
            <a:r>
              <a:t>두 점구름을 그냥 겹쳐 98퍼센트를 얻는데, 정밀도가 93에서</a:t>
            </a:r>
          </a:p>
          <a:p>
            <a:r>
              <a:t>84퍼센트로 떨어집니다. 카빙이 만든 껍질 안쪽으로 스테레오 깊이를 밀어 넣어</a:t>
            </a:r>
          </a:p>
          <a:p>
            <a:r>
              <a:t>오목한 부분만 파는 방식이 표준인데, 그러면 둘의 장점만 취할 수 있습니다. 이건</a:t>
            </a:r>
          </a:p>
          <a:p>
            <a:r>
              <a:t>재 보지 않았습니다.</a:t>
            </a:r>
          </a:p>
          <a:p/>
          <a:p>
            <a:r>
              <a:t>위 그림은 쌍별 결과입니다. 베이스라인이 크다고 정확한 것이 아니고, 커버리지와</a:t>
            </a:r>
          </a:p>
          <a:p>
            <a:r>
              <a:t>정확도가 함께 가지도 않는다는 것이 보입니다.</a:t>
            </a:r>
          </a:p>
          <a:p/>
          <a:p>
            <a:r>
              <a:t>한계도 함께 말씀드리면, 자세는 데이터셋이 준 정답을 그대로 썼고, 위성은 한 종만</a:t>
            </a:r>
          </a:p>
          <a:p>
            <a:r>
              <a:t>실험했으며, 깊이 분해능 하한이 6.8 센티미터 퍼 픽셀입니다.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1087221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defRPr sz="850">
                <a:solidFill>
                  <a:srgbClr val="8F8F8F"/>
                </a:solidFill>
                <a:latin typeface="Cascadia Mono"/>
              </a:defRPr>
            </a:pPr>
            <a:r>
              <a:rPr sz="850" b="0">
                <a:solidFill>
                  <a:srgbClr val="8F8F8F"/>
                </a:solidFill>
                <a:latin typeface="Cascadia Mono"/>
                <a:ea typeface="Cascadia Mono"/>
                <a:cs typeface="Cascadia Mono"/>
              </a:rPr>
              <a:t>01 /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76656"/>
            <a:ext cx="10872216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700">
                <a:solidFill>
                  <a:srgbClr val="171717"/>
                </a:solidFill>
                <a:latin typeface="Pretendard SemiBold"/>
              </a:defRPr>
            </a:pPr>
            <a:r>
              <a:rPr sz="2700" b="0" spc="-108">
                <a:solidFill>
                  <a:srgbClr val="171717"/>
                </a:solidFill>
                <a:latin typeface="Pretendard SemiBold"/>
                <a:ea typeface="Pretendard SemiBold"/>
                <a:cs typeface="Pretendard SemiBold"/>
              </a:rPr>
              <a:t>카메라가 고정이어도 타겟이 돌면 스테레오가 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1087221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defRPr sz="1050">
                <a:solidFill>
                  <a:srgbClr val="4D4D4D"/>
                </a:solidFill>
                <a:latin typeface="Pretendard"/>
              </a:defRPr>
            </a:pPr>
            <a:r>
              <a:rPr sz="105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SPE3R aqua · 위성 근접 영상 1,000장 · 256×256 · Stanford SLAB · CC BY-NC-SA 4.0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327648"/>
            <a:ext cx="11064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defRPr sz="850">
                <a:solidFill>
                  <a:srgbClr val="A1A1A1"/>
                </a:solidFill>
                <a:latin typeface="Cascadia Mono"/>
              </a:defRPr>
            </a:pPr>
            <a:r>
              <a:rPr sz="850" b="0">
                <a:solidFill>
                  <a:srgbClr val="A1A1A1"/>
                </a:solidFill>
                <a:latin typeface="Cascadia Mono"/>
                <a:ea typeface="Cascadia Mono"/>
                <a:cs typeface="Cascadia Mono"/>
              </a:rPr>
              <a:t>01 /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54480"/>
            <a:ext cx="10872216" cy="2889504"/>
          </a:xfrm>
          <a:prstGeom prst="roundRect">
            <a:avLst>
              <a:gd name="adj" fmla="val 3955"/>
            </a:avLst>
          </a:prstGeom>
          <a:solidFill>
            <a:srgbClr val="FFFFFF"/>
          </a:solidFill>
          <a:ln w="9525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0_con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5" y="1691639"/>
            <a:ext cx="10058400" cy="261518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8368" y="4590288"/>
            <a:ext cx="5358384" cy="1700784"/>
          </a:xfrm>
          <a:prstGeom prst="roundRect">
            <a:avLst>
              <a:gd name="adj" fmla="val 6720"/>
            </a:avLst>
          </a:prstGeom>
          <a:solidFill>
            <a:srgbClr val="FFFFFF"/>
          </a:solidFill>
          <a:ln w="9525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4764024"/>
            <a:ext cx="48828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defRPr sz="1050">
                <a:solidFill>
                  <a:srgbClr val="171717"/>
                </a:solidFill>
                <a:latin typeface="Pretendard SemiBold"/>
              </a:defRPr>
            </a:pPr>
            <a:r>
              <a:rPr sz="1050" b="0">
                <a:solidFill>
                  <a:srgbClr val="171717"/>
                </a:solidFill>
                <a:latin typeface="Pretendard SemiBold"/>
                <a:ea typeface="Pretendard SemiBold"/>
                <a:cs typeface="Pretendard SemiBold"/>
              </a:rPr>
              <a:t>왜 시점이 두 개 필요한가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5010912"/>
            <a:ext cx="488289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defRPr sz="1000">
                <a:solidFill>
                  <a:srgbClr val="4D4D4D"/>
                </a:solidFill>
                <a:latin typeface="Pretendard"/>
              </a:defRPr>
            </a:pPr>
            <a:r>
              <a:rPr sz="100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영상 한 장은 깊이를 잃습니다. 한 시선 위의 모든 점이</a:t>
            </a:r>
          </a:p>
          <a:p>
            <a:pPr algn="l">
              <a:lnSpc>
                <a:spcPct val="130000"/>
              </a:lnSpc>
              <a:defRPr sz="1000">
                <a:solidFill>
                  <a:srgbClr val="4D4D4D"/>
                </a:solidFill>
                <a:latin typeface="Pretendard"/>
              </a:defRPr>
            </a:pPr>
            <a:r>
              <a:rPr sz="100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같은 화소에 맺히기 때문입니다.</a:t>
            </a:r>
          </a:p>
          <a:p>
            <a:pPr algn="l">
              <a:lnSpc>
                <a:spcPct val="130000"/>
              </a:lnSpc>
              <a:defRPr sz="400">
                <a:solidFill>
                  <a:srgbClr val="4D4D4D"/>
                </a:solidFill>
                <a:latin typeface="Pretendard"/>
              </a:defRPr>
            </a:pPr>
            <a:r>
              <a:rPr sz="40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pPr algn="l">
              <a:lnSpc>
                <a:spcPct val="130000"/>
              </a:lnSpc>
              <a:defRPr sz="1000">
                <a:solidFill>
                  <a:srgbClr val="171717"/>
                </a:solidFill>
                <a:latin typeface="Pretendard Medium"/>
              </a:defRPr>
            </a:pPr>
            <a:r>
              <a:rPr sz="1000" b="0">
                <a:solidFill>
                  <a:srgbClr val="171717"/>
                </a:solidFill>
                <a:latin typeface="Pretendard Medium"/>
                <a:ea typeface="Pretendard Medium"/>
                <a:cs typeface="Pretendard Medium"/>
              </a:rPr>
              <a:t>SPE3R은 카메라가 제자리에 고정돼 있습니다.</a:t>
            </a:r>
          </a:p>
          <a:p>
            <a:pPr algn="l">
              <a:lnSpc>
                <a:spcPct val="130000"/>
              </a:lnSpc>
              <a:defRPr sz="1000">
                <a:solidFill>
                  <a:srgbClr val="171717"/>
                </a:solidFill>
                <a:latin typeface="Pretendard Medium"/>
              </a:defRPr>
            </a:pPr>
            <a:r>
              <a:rPr sz="1000" b="0">
                <a:solidFill>
                  <a:srgbClr val="171717"/>
                </a:solidFill>
                <a:latin typeface="Pretendard Medium"/>
                <a:ea typeface="Pretendard Medium"/>
                <a:cs typeface="Pretendard Medium"/>
              </a:rPr>
              <a:t>대신 타겟이 매 프레임 무작위로 회전합니다.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64224" y="4590288"/>
            <a:ext cx="5166360" cy="1700784"/>
          </a:xfrm>
          <a:prstGeom prst="roundRect">
            <a:avLst>
              <a:gd name="adj" fmla="val 6720"/>
            </a:avLst>
          </a:prstGeom>
          <a:solidFill>
            <a:srgbClr val="FFFFFF"/>
          </a:solidFill>
          <a:ln w="9525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4764024"/>
            <a:ext cx="469087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defRPr sz="1050">
                <a:solidFill>
                  <a:srgbClr val="171717"/>
                </a:solidFill>
                <a:latin typeface="Pretendard SemiBold"/>
              </a:defRPr>
            </a:pPr>
            <a:r>
              <a:rPr sz="1050" b="0">
                <a:solidFill>
                  <a:srgbClr val="171717"/>
                </a:solidFill>
                <a:latin typeface="Pretendard SemiBold"/>
                <a:ea typeface="Pretendard SemiBold"/>
                <a:cs typeface="Pretendard SemiBold"/>
              </a:rPr>
              <a:t>파이프라인 5단계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5010912"/>
            <a:ext cx="469087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defRPr sz="1000">
                <a:solidFill>
                  <a:srgbClr val="4D4D4D"/>
                </a:solidFill>
                <a:latin typeface="Pretendard"/>
              </a:defRPr>
            </a:pPr>
            <a:r>
              <a:rPr sz="100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① 쌍 선별 — 회전 8° 이내, 옆으로 움직인 쌍만</a:t>
            </a:r>
          </a:p>
          <a:p>
            <a:pPr algn="l">
              <a:lnSpc>
                <a:spcPct val="130000"/>
              </a:lnSpc>
              <a:defRPr sz="1000">
                <a:solidFill>
                  <a:srgbClr val="4D4D4D"/>
                </a:solidFill>
                <a:latin typeface="Pretendard"/>
              </a:defRPr>
            </a:pPr>
            <a:r>
              <a:rPr sz="100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② 정렬 — cv2.stereoRectify 로 에피폴라선을 가로로</a:t>
            </a:r>
          </a:p>
          <a:p>
            <a:pPr algn="l">
              <a:lnSpc>
                <a:spcPct val="130000"/>
              </a:lnSpc>
              <a:defRPr sz="1000">
                <a:solidFill>
                  <a:srgbClr val="4D4D4D"/>
                </a:solidFill>
                <a:latin typeface="Pretendard"/>
              </a:defRPr>
            </a:pPr>
            <a:r>
              <a:rPr sz="100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③ 시차 — cv2.StereoSGBM 으로 가로 이동량 d 탐색</a:t>
            </a:r>
          </a:p>
          <a:p>
            <a:pPr algn="l">
              <a:lnSpc>
                <a:spcPct val="130000"/>
              </a:lnSpc>
              <a:defRPr sz="1000">
                <a:solidFill>
                  <a:srgbClr val="171717"/>
                </a:solidFill>
                <a:latin typeface="Pretendard Medium"/>
              </a:defRPr>
            </a:pPr>
            <a:r>
              <a:rPr sz="1000" b="0">
                <a:solidFill>
                  <a:srgbClr val="171717"/>
                </a:solidFill>
                <a:latin typeface="Pretendard Medium"/>
                <a:ea typeface="Pretendard Medium"/>
                <a:cs typeface="Pretendard Medium"/>
              </a:rPr>
              <a:t>④ 깊이 맵 — Z = f · B / d</a:t>
            </a:r>
          </a:p>
          <a:p>
            <a:pPr algn="l">
              <a:lnSpc>
                <a:spcPct val="130000"/>
              </a:lnSpc>
              <a:defRPr sz="1000">
                <a:solidFill>
                  <a:srgbClr val="171717"/>
                </a:solidFill>
                <a:latin typeface="Pretendard Medium"/>
              </a:defRPr>
            </a:pPr>
            <a:r>
              <a:rPr sz="1000" b="0">
                <a:solidFill>
                  <a:srgbClr val="171717"/>
                </a:solidFill>
                <a:latin typeface="Pretendard Medium"/>
                <a:ea typeface="Pretendard Medium"/>
                <a:cs typeface="Pretendard Medium"/>
              </a:rPr>
              <a:t>⑤ 포인트 클라우드 — X = (u−cx)·Z/f,  Y = (v−cy)·Z/f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1087221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defRPr sz="850">
                <a:solidFill>
                  <a:srgbClr val="8F8F8F"/>
                </a:solidFill>
                <a:latin typeface="Cascadia Mono"/>
              </a:defRPr>
            </a:pPr>
            <a:r>
              <a:rPr sz="850" b="0">
                <a:solidFill>
                  <a:srgbClr val="8F8F8F"/>
                </a:solidFill>
                <a:latin typeface="Cascadia Mono"/>
                <a:ea typeface="Cascadia Mono"/>
                <a:cs typeface="Cascadia Mono"/>
              </a:rPr>
              <a:t>02 / Unit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76656"/>
            <a:ext cx="10872216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700">
                <a:solidFill>
                  <a:srgbClr val="171717"/>
                </a:solidFill>
                <a:latin typeface="Pretendard SemiBold"/>
              </a:defRPr>
            </a:pPr>
            <a:r>
              <a:rPr sz="2700" b="0" spc="-108">
                <a:solidFill>
                  <a:srgbClr val="171717"/>
                </a:solidFill>
                <a:latin typeface="Pretendard SemiBold"/>
                <a:ea typeface="Pretendard SemiBold"/>
                <a:cs typeface="Pretendard SemiBold"/>
              </a:rPr>
              <a:t>출력 크기와 자료형만 보면 수식이 틀려도 통과합니다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1087221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defRPr sz="1050">
                <a:solidFill>
                  <a:srgbClr val="4D4D4D"/>
                </a:solidFill>
                <a:latin typeface="Pretendard"/>
              </a:defRPr>
            </a:pPr>
            <a:r>
              <a:rPr sz="105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pytest 80개 · 손으로 풀 수 있는 조건을 만들어 수치까지 대조 · 실행 결과는 outputs/pytest_report.txt 에 저장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327648"/>
            <a:ext cx="11064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defRPr sz="850">
                <a:solidFill>
                  <a:srgbClr val="A1A1A1"/>
                </a:solidFill>
                <a:latin typeface="Cascadia Mono"/>
              </a:defRPr>
            </a:pPr>
            <a:r>
              <a:rPr sz="850" b="0">
                <a:solidFill>
                  <a:srgbClr val="A1A1A1"/>
                </a:solidFill>
                <a:latin typeface="Cascadia Mono"/>
                <a:ea typeface="Cascadia Mono"/>
                <a:cs typeface="Cascadia Mono"/>
              </a:rPr>
              <a:t>02 /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54480"/>
            <a:ext cx="10872216" cy="2889504"/>
          </a:xfrm>
          <a:prstGeom prst="roundRect">
            <a:avLst>
              <a:gd name="adj" fmla="val 3955"/>
            </a:avLst>
          </a:prstGeom>
          <a:solidFill>
            <a:srgbClr val="FFFFFF"/>
          </a:solidFill>
          <a:ln w="9525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1_synthetic_validation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832" y="1691639"/>
            <a:ext cx="10161287" cy="261518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8368" y="4590288"/>
            <a:ext cx="5358384" cy="1700784"/>
          </a:xfrm>
          <a:prstGeom prst="roundRect">
            <a:avLst>
              <a:gd name="adj" fmla="val 6720"/>
            </a:avLst>
          </a:prstGeom>
          <a:solidFill>
            <a:srgbClr val="FFFFFF"/>
          </a:solidFill>
          <a:ln w="9525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4764024"/>
            <a:ext cx="48828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defRPr sz="1050">
                <a:solidFill>
                  <a:srgbClr val="171717"/>
                </a:solidFill>
                <a:latin typeface="Pretendard SemiBold"/>
              </a:defRPr>
            </a:pPr>
            <a:r>
              <a:rPr sz="1050" b="0">
                <a:solidFill>
                  <a:srgbClr val="171717"/>
                </a:solidFill>
                <a:latin typeface="Pretendard SemiBold"/>
                <a:ea typeface="Pretendard SemiBold"/>
                <a:cs typeface="Pretendard SemiBold"/>
              </a:rPr>
              <a:t>정답 깊이에 오차가 없는 조건을 만든다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5010912"/>
            <a:ext cx="488289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defRPr sz="1000">
                <a:solidFill>
                  <a:srgbClr val="4D4D4D"/>
                </a:solidFill>
                <a:latin typeface="Pretendard"/>
              </a:defRPr>
            </a:pPr>
            <a:r>
              <a:rPr sz="100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구와 직육면체로 위성을 세우면 광선과 도형의 교차를</a:t>
            </a:r>
          </a:p>
          <a:p>
            <a:pPr algn="l">
              <a:lnSpc>
                <a:spcPct val="130000"/>
              </a:lnSpc>
              <a:defRPr sz="1000">
                <a:solidFill>
                  <a:srgbClr val="4D4D4D"/>
                </a:solidFill>
                <a:latin typeface="Pretendard"/>
              </a:defRPr>
            </a:pPr>
            <a:r>
              <a:rPr sz="100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손으로 풀 수 있습니다. 정답에 렌더링 오차가 0 이므로</a:t>
            </a:r>
          </a:p>
          <a:p>
            <a:pPr algn="l">
              <a:lnSpc>
                <a:spcPct val="130000"/>
              </a:lnSpc>
              <a:defRPr sz="1000">
                <a:solidFill>
                  <a:srgbClr val="4D4D4D"/>
                </a:solidFill>
                <a:latin typeface="Pretendard"/>
              </a:defRPr>
            </a:pPr>
            <a:r>
              <a:rPr sz="100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남는 오차는 전부 정합 알고리즘에서 온 것입니다.</a:t>
            </a:r>
          </a:p>
          <a:p>
            <a:pPr algn="l">
              <a:lnSpc>
                <a:spcPct val="130000"/>
              </a:lnSpc>
              <a:defRPr sz="400">
                <a:solidFill>
                  <a:srgbClr val="4D4D4D"/>
                </a:solidFill>
                <a:latin typeface="Pretendard"/>
              </a:defRPr>
            </a:pPr>
            <a:r>
              <a:rPr sz="40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pPr algn="l">
              <a:lnSpc>
                <a:spcPct val="130000"/>
              </a:lnSpc>
              <a:defRPr sz="1000">
                <a:solidFill>
                  <a:srgbClr val="171717"/>
                </a:solidFill>
                <a:latin typeface="Pretendard Medium"/>
              </a:defRPr>
            </a:pPr>
            <a:r>
              <a:rPr sz="1000" b="0">
                <a:solidFill>
                  <a:srgbClr val="171717"/>
                </a:solidFill>
                <a:latin typeface="Pretendard Medium"/>
                <a:ea typeface="Pretendard Medium"/>
                <a:cs typeface="Pretendard Medium"/>
              </a:rPr>
              <a:t>정답 깊이 폭 0.898 m → 스테레오 0.915 m / 과제 예시 0.019 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64224" y="4590288"/>
            <a:ext cx="5166360" cy="1700784"/>
          </a:xfrm>
          <a:prstGeom prst="roundRect">
            <a:avLst>
              <a:gd name="adj" fmla="val 6720"/>
            </a:avLst>
          </a:prstGeom>
          <a:solidFill>
            <a:srgbClr val="FFFFFF"/>
          </a:solidFill>
          <a:ln w="9525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4764024"/>
            <a:ext cx="469087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defRPr sz="1050">
                <a:solidFill>
                  <a:srgbClr val="171717"/>
                </a:solidFill>
                <a:latin typeface="Pretendard SemiBold"/>
              </a:defRPr>
            </a:pPr>
            <a:r>
              <a:rPr sz="1050" b="0">
                <a:solidFill>
                  <a:srgbClr val="171717"/>
                </a:solidFill>
                <a:latin typeface="Pretendard SemiBold"/>
                <a:ea typeface="Pretendard SemiBold"/>
                <a:cs typeface="Pretendard SemiBold"/>
              </a:rPr>
              <a:t>80개를 다섯 갈래로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5010912"/>
            <a:ext cx="469087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defRPr sz="1000">
                <a:solidFill>
                  <a:srgbClr val="4D4D4D"/>
                </a:solidFill>
                <a:latin typeface="Pretendard"/>
              </a:defRPr>
            </a:pPr>
            <a:r>
              <a:rPr sz="100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해석해 — Z = f·B/d 를 1e-12 까지 대조</a:t>
            </a:r>
          </a:p>
          <a:p>
            <a:pPr algn="l">
              <a:lnSpc>
                <a:spcPct val="130000"/>
              </a:lnSpc>
              <a:defRPr sz="1000">
                <a:solidFill>
                  <a:srgbClr val="4D4D4D"/>
                </a:solidFill>
                <a:latin typeface="Pretendard"/>
              </a:defRPr>
            </a:pPr>
            <a:r>
              <a:rPr sz="100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불변식 — B와 d를 함께 2배 하면 Z 는 그대로</a:t>
            </a:r>
          </a:p>
          <a:p>
            <a:pPr algn="l">
              <a:lnSpc>
                <a:spcPct val="130000"/>
              </a:lnSpc>
              <a:defRPr sz="1000">
                <a:solidFill>
                  <a:srgbClr val="4D4D4D"/>
                </a:solidFill>
                <a:latin typeface="Pretendard"/>
              </a:defRPr>
            </a:pPr>
            <a:r>
              <a:rPr sz="100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실패 특성화 — 같은 거리라도 반사율이 다르면 4배 다른 깊이</a:t>
            </a:r>
          </a:p>
          <a:p>
            <a:pPr algn="l">
              <a:lnSpc>
                <a:spcPct val="130000"/>
              </a:lnSpc>
              <a:defRPr sz="1000">
                <a:solidFill>
                  <a:srgbClr val="4D4D4D"/>
                </a:solidFill>
                <a:latin typeface="Pretendard"/>
              </a:defRPr>
            </a:pPr>
            <a:r>
              <a:rPr sz="100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경계 조건 — 시차 0(무한원점), None 입력, 크기 불일치</a:t>
            </a:r>
          </a:p>
          <a:p>
            <a:pPr algn="l">
              <a:lnSpc>
                <a:spcPct val="130000"/>
              </a:lnSpc>
              <a:defRPr sz="1000">
                <a:solidFill>
                  <a:srgbClr val="171717"/>
                </a:solidFill>
                <a:latin typeface="Pretendard Medium"/>
              </a:defRPr>
            </a:pPr>
            <a:r>
              <a:rPr sz="1000" b="0">
                <a:solidFill>
                  <a:srgbClr val="171717"/>
                </a:solidFill>
                <a:latin typeface="Pretendard Medium"/>
                <a:ea typeface="Pretendard Medium"/>
                <a:cs typeface="Pretendard Medium"/>
              </a:rPr>
              <a:t>회귀 — 실제로 찾은 버그를 다시 나지 않게 고정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1087221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defRPr sz="850">
                <a:solidFill>
                  <a:srgbClr val="8F8F8F"/>
                </a:solidFill>
                <a:latin typeface="Cascadia Mono"/>
              </a:defRPr>
            </a:pPr>
            <a:r>
              <a:rPr sz="850" b="0">
                <a:solidFill>
                  <a:srgbClr val="8F8F8F"/>
                </a:solidFill>
                <a:latin typeface="Cascadia Mono"/>
                <a:ea typeface="Cascadia Mono"/>
                <a:cs typeface="Cascadia Mono"/>
              </a:rPr>
              <a:t>03 / 2D → 3D 변환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76656"/>
            <a:ext cx="10872216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700">
                <a:solidFill>
                  <a:srgbClr val="171717"/>
                </a:solidFill>
                <a:latin typeface="Pretendard SemiBold"/>
              </a:defRPr>
            </a:pPr>
            <a:r>
              <a:rPr sz="2700" b="0" spc="-108">
                <a:solidFill>
                  <a:srgbClr val="171717"/>
                </a:solidFill>
                <a:latin typeface="Pretendard SemiBold"/>
                <a:ea typeface="Pretendard SemiBold"/>
                <a:cs typeface="Pretendard SemiBold"/>
              </a:rPr>
              <a:t>타겟 표면의 98% 를 복원했습니다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1087221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defRPr sz="1050">
                <a:solidFill>
                  <a:srgbClr val="4D4D4D"/>
                </a:solidFill>
                <a:latin typeface="Pretendard"/>
              </a:defRPr>
            </a:pPr>
            <a:r>
              <a:rPr sz="105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두 경로를 같은 지표로 비교 · 정답 메시 표면 40만 점 중 복원점이 2 cm 안에 있는 비율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327648"/>
            <a:ext cx="11064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defRPr sz="850">
                <a:solidFill>
                  <a:srgbClr val="A1A1A1"/>
                </a:solidFill>
                <a:latin typeface="Cascadia Mono"/>
              </a:defRPr>
            </a:pPr>
            <a:r>
              <a:rPr sz="850" b="0">
                <a:solidFill>
                  <a:srgbClr val="A1A1A1"/>
                </a:solidFill>
                <a:latin typeface="Cascadia Mono"/>
                <a:ea typeface="Cascadia Mono"/>
                <a:cs typeface="Cascadia Mono"/>
              </a:rPr>
              <a:t>03 /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54480"/>
            <a:ext cx="10872216" cy="2889504"/>
          </a:xfrm>
          <a:prstGeom prst="roundRect">
            <a:avLst>
              <a:gd name="adj" fmla="val 3955"/>
            </a:avLst>
          </a:prstGeom>
          <a:solidFill>
            <a:srgbClr val="FFFFFF"/>
          </a:solidFill>
          <a:ln w="9525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4_pointclou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1" y="1691639"/>
            <a:ext cx="9985248" cy="261518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8368" y="4590288"/>
            <a:ext cx="5358384" cy="1700784"/>
          </a:xfrm>
          <a:prstGeom prst="roundRect">
            <a:avLst>
              <a:gd name="adj" fmla="val 6720"/>
            </a:avLst>
          </a:prstGeom>
          <a:solidFill>
            <a:srgbClr val="FFFFFF"/>
          </a:solidFill>
          <a:ln w="9525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4764024"/>
            <a:ext cx="48828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defRPr sz="1050">
                <a:solidFill>
                  <a:srgbClr val="171717"/>
                </a:solidFill>
                <a:latin typeface="Pretendard SemiBold"/>
              </a:defRPr>
            </a:pPr>
            <a:r>
              <a:rPr sz="1050" b="0">
                <a:solidFill>
                  <a:srgbClr val="171717"/>
                </a:solidFill>
                <a:latin typeface="Pretendard SemiBold"/>
                <a:ea typeface="Pretendard SemiBold"/>
                <a:cs typeface="Pretendard SemiBold"/>
              </a:rPr>
              <a:t>표면 커버리지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5038344"/>
            <a:ext cx="1920240" cy="8595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45000"/>
              </a:lnSpc>
              <a:defRPr sz="900">
                <a:solidFill>
                  <a:srgbClr val="8F8F8F"/>
                </a:solidFill>
                <a:latin typeface="Pretendard"/>
              </a:defRPr>
            </a:pPr>
            <a:r>
              <a:rPr sz="900" b="0">
                <a:solidFill>
                  <a:srgbClr val="8F8F8F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pPr algn="l">
              <a:lnSpc>
                <a:spcPct val="145000"/>
              </a:lnSpc>
              <a:defRPr sz="1000">
                <a:solidFill>
                  <a:srgbClr val="4D4D4D"/>
                </a:solidFill>
                <a:latin typeface="Pretendard"/>
              </a:defRPr>
            </a:pPr>
            <a:r>
              <a:rPr sz="100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A 스테레오 (2장)</a:t>
            </a:r>
          </a:p>
          <a:p>
            <a:pPr algn="l">
              <a:lnSpc>
                <a:spcPct val="145000"/>
              </a:lnSpc>
              <a:defRPr sz="1000">
                <a:solidFill>
                  <a:srgbClr val="4D4D4D"/>
                </a:solidFill>
                <a:latin typeface="Pretendard"/>
              </a:defRPr>
            </a:pPr>
            <a:r>
              <a:rPr sz="100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B 실루엣 카빙 (20뷰)</a:t>
            </a:r>
          </a:p>
          <a:p>
            <a:pPr algn="l">
              <a:lnSpc>
                <a:spcPct val="145000"/>
              </a:lnSpc>
              <a:defRPr sz="1000">
                <a:solidFill>
                  <a:srgbClr val="171717"/>
                </a:solidFill>
                <a:latin typeface="Pretendard Medium"/>
              </a:defRPr>
            </a:pPr>
            <a:r>
              <a:rPr sz="1000" b="0">
                <a:solidFill>
                  <a:srgbClr val="171717"/>
                </a:solidFill>
                <a:latin typeface="Pretendard Medium"/>
                <a:ea typeface="Pretendard Medium"/>
                <a:cs typeface="Pretendard Medium"/>
              </a:rPr>
              <a:t>A +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16352" y="5038344"/>
            <a:ext cx="1051560" cy="8595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45000"/>
              </a:lnSpc>
              <a:defRPr sz="900">
                <a:solidFill>
                  <a:srgbClr val="8F8F8F"/>
                </a:solidFill>
                <a:latin typeface="Pretendard"/>
              </a:defRPr>
            </a:pPr>
            <a:r>
              <a:rPr sz="900" b="0">
                <a:solidFill>
                  <a:srgbClr val="8F8F8F"/>
                </a:solidFill>
                <a:latin typeface="Pretendard"/>
                <a:ea typeface="Pretendard"/>
                <a:cs typeface="Pretendard"/>
              </a:rPr>
              <a:t>점 수</a:t>
            </a:r>
          </a:p>
          <a:p>
            <a:pPr algn="r">
              <a:lnSpc>
                <a:spcPct val="145000"/>
              </a:lnSpc>
              <a:defRPr sz="1000">
                <a:solidFill>
                  <a:srgbClr val="4D4D4D"/>
                </a:solidFill>
                <a:latin typeface="Pretendard"/>
              </a:defRPr>
            </a:pPr>
            <a:r>
              <a:rPr sz="100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5,711</a:t>
            </a:r>
          </a:p>
          <a:p>
            <a:pPr algn="r">
              <a:lnSpc>
                <a:spcPct val="145000"/>
              </a:lnSpc>
              <a:defRPr sz="1000">
                <a:solidFill>
                  <a:srgbClr val="4D4D4D"/>
                </a:solidFill>
                <a:latin typeface="Pretendard"/>
              </a:defRPr>
            </a:pPr>
            <a:r>
              <a:rPr sz="100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9,762</a:t>
            </a:r>
          </a:p>
          <a:p>
            <a:pPr algn="r">
              <a:lnSpc>
                <a:spcPct val="145000"/>
              </a:lnSpc>
              <a:defRPr sz="1000">
                <a:solidFill>
                  <a:srgbClr val="171717"/>
                </a:solidFill>
                <a:latin typeface="Pretendard Medium"/>
              </a:defRPr>
            </a:pPr>
            <a:r>
              <a:rPr sz="1000" b="0">
                <a:solidFill>
                  <a:srgbClr val="171717"/>
                </a:solidFill>
                <a:latin typeface="Pretendard Medium"/>
                <a:ea typeface="Pretendard Medium"/>
                <a:cs typeface="Pretendard Medium"/>
              </a:rPr>
              <a:t>15,473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67912" y="5038344"/>
            <a:ext cx="1188720" cy="8595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45000"/>
              </a:lnSpc>
              <a:defRPr sz="900">
                <a:solidFill>
                  <a:srgbClr val="8F8F8F"/>
                </a:solidFill>
                <a:latin typeface="Pretendard"/>
              </a:defRPr>
            </a:pPr>
            <a:r>
              <a:rPr sz="900" b="0">
                <a:solidFill>
                  <a:srgbClr val="8F8F8F"/>
                </a:solidFill>
                <a:latin typeface="Pretendard"/>
                <a:ea typeface="Pretendard"/>
                <a:cs typeface="Pretendard"/>
              </a:rPr>
              <a:t>표면 덮음</a:t>
            </a:r>
          </a:p>
          <a:p>
            <a:pPr algn="r">
              <a:lnSpc>
                <a:spcPct val="145000"/>
              </a:lnSpc>
              <a:defRPr sz="1000">
                <a:solidFill>
                  <a:srgbClr val="4D4D4D"/>
                </a:solidFill>
                <a:latin typeface="Pretendard"/>
              </a:defRPr>
            </a:pPr>
            <a:r>
              <a:rPr sz="100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27.6%</a:t>
            </a:r>
          </a:p>
          <a:p>
            <a:pPr algn="r">
              <a:lnSpc>
                <a:spcPct val="145000"/>
              </a:lnSpc>
              <a:defRPr sz="1000">
                <a:solidFill>
                  <a:srgbClr val="4D4D4D"/>
                </a:solidFill>
                <a:latin typeface="Pretendard"/>
              </a:defRPr>
            </a:pPr>
            <a:r>
              <a:rPr sz="100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96.6%</a:t>
            </a:r>
          </a:p>
          <a:p>
            <a:pPr algn="r">
              <a:lnSpc>
                <a:spcPct val="145000"/>
              </a:lnSpc>
              <a:defRPr sz="1000">
                <a:solidFill>
                  <a:srgbClr val="171717"/>
                </a:solidFill>
                <a:latin typeface="Pretendard Medium"/>
              </a:defRPr>
            </a:pPr>
            <a:r>
              <a:rPr sz="1000" b="0">
                <a:solidFill>
                  <a:srgbClr val="171717"/>
                </a:solidFill>
                <a:latin typeface="Pretendard Medium"/>
                <a:ea typeface="Pretendard Medium"/>
                <a:cs typeface="Pretendard Medium"/>
              </a:rPr>
              <a:t>97.7%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64224" y="4590288"/>
            <a:ext cx="5166360" cy="1700784"/>
          </a:xfrm>
          <a:prstGeom prst="roundRect">
            <a:avLst>
              <a:gd name="adj" fmla="val 6720"/>
            </a:avLst>
          </a:prstGeom>
          <a:solidFill>
            <a:srgbClr val="FFFFFF"/>
          </a:solidFill>
          <a:ln w="9525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4764024"/>
            <a:ext cx="469087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defRPr sz="1050">
                <a:solidFill>
                  <a:srgbClr val="171717"/>
                </a:solidFill>
                <a:latin typeface="Pretendard SemiBold"/>
              </a:defRPr>
            </a:pPr>
            <a:r>
              <a:rPr sz="1050" b="0">
                <a:solidFill>
                  <a:srgbClr val="171717"/>
                </a:solidFill>
                <a:latin typeface="Pretendard SemiBold"/>
                <a:ea typeface="Pretendard SemiBold"/>
                <a:cs typeface="Pretendard SemiBold"/>
              </a:rPr>
              <a:t>같은 시점에서 두 깊이 맵을 비교하면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5010912"/>
            <a:ext cx="469087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defRPr sz="1000">
                <a:solidFill>
                  <a:srgbClr val="171717"/>
                </a:solidFill>
                <a:latin typeface="Pretendard Medium"/>
              </a:defRPr>
            </a:pPr>
            <a:r>
              <a:rPr sz="1000" b="0">
                <a:solidFill>
                  <a:srgbClr val="171717"/>
                </a:solidFill>
                <a:latin typeface="Pretendard Medium"/>
                <a:ea typeface="Pretendard Medium"/>
                <a:cs typeface="Pretendard Medium"/>
              </a:rPr>
              <a:t>A 오차 중앙값 0.9 cm · 유효화소 60%   (영상 2장)</a:t>
            </a:r>
          </a:p>
          <a:p>
            <a:pPr algn="l">
              <a:lnSpc>
                <a:spcPct val="130000"/>
              </a:lnSpc>
              <a:defRPr sz="1000">
                <a:solidFill>
                  <a:srgbClr val="171717"/>
                </a:solidFill>
                <a:latin typeface="Pretendard Medium"/>
              </a:defRPr>
            </a:pPr>
            <a:r>
              <a:rPr sz="1000" b="0">
                <a:solidFill>
                  <a:srgbClr val="171717"/>
                </a:solidFill>
                <a:latin typeface="Pretendard Medium"/>
                <a:ea typeface="Pretendard Medium"/>
                <a:cs typeface="Pretendard Medium"/>
              </a:rPr>
              <a:t>B 오차 중앙값 0.4 cm · 유효화소 100%   (마스크 20장)</a:t>
            </a:r>
          </a:p>
          <a:p>
            <a:pPr algn="l">
              <a:lnSpc>
                <a:spcPct val="130000"/>
              </a:lnSpc>
              <a:defRPr sz="400">
                <a:solidFill>
                  <a:srgbClr val="4D4D4D"/>
                </a:solidFill>
                <a:latin typeface="Pretendard"/>
              </a:defRPr>
            </a:pPr>
            <a:r>
              <a:rPr sz="40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pPr algn="l">
              <a:lnSpc>
                <a:spcPct val="130000"/>
              </a:lnSpc>
              <a:defRPr sz="1000">
                <a:solidFill>
                  <a:srgbClr val="4D4D4D"/>
                </a:solidFill>
                <a:latin typeface="Pretendard"/>
              </a:defRPr>
            </a:pPr>
            <a:r>
              <a:rPr sz="100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B 가 낫지만 입력이 열 배 많고 마스크는 정답입니다.</a:t>
            </a:r>
          </a:p>
          <a:p>
            <a:pPr algn="l">
              <a:lnSpc>
                <a:spcPct val="130000"/>
              </a:lnSpc>
              <a:defRPr sz="1000">
                <a:solidFill>
                  <a:srgbClr val="4D4D4D"/>
                </a:solidFill>
                <a:latin typeface="Pretendard"/>
              </a:defRPr>
            </a:pPr>
            <a:r>
              <a:rPr sz="100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어느 쪽이 낫다가 아니라 필요한 입력이 다른 두 경로입니다.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1087221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defRPr sz="850">
                <a:solidFill>
                  <a:srgbClr val="8F8F8F"/>
                </a:solidFill>
                <a:latin typeface="Cascadia Mono"/>
              </a:defRPr>
            </a:pPr>
            <a:r>
              <a:rPr sz="850" b="0">
                <a:solidFill>
                  <a:srgbClr val="8F8F8F"/>
                </a:solidFill>
                <a:latin typeface="Cascadia Mono"/>
                <a:ea typeface="Cascadia Mono"/>
                <a:cs typeface="Cascadia Mono"/>
              </a:rPr>
              <a:t>04 / 개선점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76656"/>
            <a:ext cx="10872216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700">
                <a:solidFill>
                  <a:srgbClr val="171717"/>
                </a:solidFill>
                <a:latin typeface="Pretendard SemiBold"/>
              </a:defRPr>
            </a:pPr>
            <a:r>
              <a:rPr sz="2700" b="0" spc="-108">
                <a:solidFill>
                  <a:srgbClr val="171717"/>
                </a:solidFill>
                <a:latin typeface="Pretendard SemiBold"/>
                <a:ea typeface="Pretendard SemiBold"/>
                <a:cs typeface="Pretendard SemiBold"/>
              </a:rPr>
              <a:t>스테레오를 전방위로 밀어봤지만 47% 에서 멈춥니다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1087221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defRPr sz="1050">
                <a:solidFill>
                  <a:srgbClr val="4D4D4D"/>
                </a:solidFill>
                <a:latin typeface="Pretendard"/>
              </a:defRPr>
            </a:pPr>
            <a:r>
              <a:rPr sz="105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재 본 것만 적습니다 · 수치는 outputs/metrics.json 에 그대로 남습니다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327648"/>
            <a:ext cx="11064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defRPr sz="850">
                <a:solidFill>
                  <a:srgbClr val="A1A1A1"/>
                </a:solidFill>
                <a:latin typeface="Cascadia Mono"/>
              </a:defRPr>
            </a:pPr>
            <a:r>
              <a:rPr sz="850" b="0">
                <a:solidFill>
                  <a:srgbClr val="A1A1A1"/>
                </a:solidFill>
                <a:latin typeface="Cascadia Mono"/>
                <a:ea typeface="Cascadia Mono"/>
                <a:cs typeface="Cascadia Mono"/>
              </a:rPr>
              <a:t>04 /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54480"/>
            <a:ext cx="10872216" cy="2889504"/>
          </a:xfrm>
          <a:prstGeom prst="roundRect">
            <a:avLst>
              <a:gd name="adj" fmla="val 3955"/>
            </a:avLst>
          </a:prstGeom>
          <a:solidFill>
            <a:srgbClr val="FFFFFF"/>
          </a:solidFill>
          <a:ln w="9525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2_pair_surv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903" y="1691639"/>
            <a:ext cx="9153144" cy="261518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8368" y="4590288"/>
            <a:ext cx="5358384" cy="1700784"/>
          </a:xfrm>
          <a:prstGeom prst="roundRect">
            <a:avLst>
              <a:gd name="adj" fmla="val 6720"/>
            </a:avLst>
          </a:prstGeom>
          <a:solidFill>
            <a:srgbClr val="FFFFFF"/>
          </a:solidFill>
          <a:ln w="9525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4764024"/>
            <a:ext cx="48828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defRPr sz="1050">
                <a:solidFill>
                  <a:srgbClr val="171717"/>
                </a:solidFill>
                <a:latin typeface="Pretendard SemiBold"/>
              </a:defRPr>
            </a:pPr>
            <a:r>
              <a:rPr sz="1050" b="0">
                <a:solidFill>
                  <a:srgbClr val="171717"/>
                </a:solidFill>
                <a:latin typeface="Pretendard SemiBold"/>
                <a:ea typeface="Pretendard SemiBold"/>
                <a:cs typeface="Pretendard SemiBold"/>
              </a:rPr>
              <a:t>시차 탐색 범위를 좁히면 (최적 쌍)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5038344"/>
            <a:ext cx="1417320" cy="6446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45000"/>
              </a:lnSpc>
              <a:defRPr sz="900">
                <a:solidFill>
                  <a:srgbClr val="8F8F8F"/>
                </a:solidFill>
                <a:latin typeface="Pretendard"/>
              </a:defRPr>
            </a:pPr>
            <a:r>
              <a:rPr sz="900" b="0">
                <a:solidFill>
                  <a:srgbClr val="8F8F8F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pPr algn="l">
              <a:lnSpc>
                <a:spcPct val="145000"/>
              </a:lnSpc>
              <a:defRPr sz="1000">
                <a:solidFill>
                  <a:srgbClr val="171717"/>
                </a:solidFill>
                <a:latin typeface="Pretendard Medium"/>
              </a:defRPr>
            </a:pPr>
            <a:r>
              <a:rPr sz="1000" b="0">
                <a:solidFill>
                  <a:srgbClr val="171717"/>
                </a:solidFill>
                <a:latin typeface="Pretendard Medium"/>
                <a:ea typeface="Pretendard Medium"/>
                <a:cs typeface="Pretendard Medium"/>
              </a:rPr>
              <a:t>유효화소</a:t>
            </a:r>
          </a:p>
          <a:p>
            <a:pPr algn="l">
              <a:lnSpc>
                <a:spcPct val="145000"/>
              </a:lnSpc>
              <a:defRPr sz="1000">
                <a:solidFill>
                  <a:srgbClr val="4D4D4D"/>
                </a:solidFill>
                <a:latin typeface="Pretendard"/>
              </a:defRPr>
            </a:pPr>
            <a:r>
              <a:rPr sz="100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5cm 이내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13432" y="5038344"/>
            <a:ext cx="1234440" cy="6446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45000"/>
              </a:lnSpc>
              <a:defRPr sz="900">
                <a:solidFill>
                  <a:srgbClr val="8F8F8F"/>
                </a:solidFill>
                <a:latin typeface="Pretendard"/>
              </a:defRPr>
            </a:pPr>
            <a:r>
              <a:rPr sz="900" b="0">
                <a:solidFill>
                  <a:srgbClr val="8F8F8F"/>
                </a:solidFill>
                <a:latin typeface="Pretendard"/>
                <a:ea typeface="Pretendard"/>
                <a:cs typeface="Pretendard"/>
              </a:rPr>
              <a:t>현재</a:t>
            </a:r>
          </a:p>
          <a:p>
            <a:pPr algn="r">
              <a:lnSpc>
                <a:spcPct val="145000"/>
              </a:lnSpc>
              <a:defRPr sz="1000">
                <a:solidFill>
                  <a:srgbClr val="171717"/>
                </a:solidFill>
                <a:latin typeface="Pretendard Medium"/>
              </a:defRPr>
            </a:pPr>
            <a:r>
              <a:rPr sz="1000" b="0">
                <a:solidFill>
                  <a:srgbClr val="171717"/>
                </a:solidFill>
                <a:latin typeface="Pretendard Medium"/>
                <a:ea typeface="Pretendard Medium"/>
                <a:cs typeface="Pretendard Medium"/>
              </a:rPr>
              <a:t>60.2%</a:t>
            </a:r>
          </a:p>
          <a:p>
            <a:pPr algn="r">
              <a:lnSpc>
                <a:spcPct val="145000"/>
              </a:lnSpc>
              <a:defRPr sz="1000">
                <a:solidFill>
                  <a:srgbClr val="4D4D4D"/>
                </a:solidFill>
                <a:latin typeface="Pretendard"/>
              </a:defRPr>
            </a:pPr>
            <a:r>
              <a:rPr sz="100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91.6%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5038344"/>
            <a:ext cx="1234440" cy="6446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45000"/>
              </a:lnSpc>
              <a:defRPr sz="900">
                <a:solidFill>
                  <a:srgbClr val="8F8F8F"/>
                </a:solidFill>
                <a:latin typeface="Pretendard"/>
              </a:defRPr>
            </a:pPr>
            <a:r>
              <a:rPr sz="900" b="0">
                <a:solidFill>
                  <a:srgbClr val="8F8F8F"/>
                </a:solidFill>
                <a:latin typeface="Pretendard"/>
                <a:ea typeface="Pretendard"/>
                <a:cs typeface="Pretendard"/>
              </a:rPr>
              <a:t>좁힘</a:t>
            </a:r>
          </a:p>
          <a:p>
            <a:pPr algn="r">
              <a:lnSpc>
                <a:spcPct val="145000"/>
              </a:lnSpc>
              <a:defRPr sz="1000">
                <a:solidFill>
                  <a:srgbClr val="171717"/>
                </a:solidFill>
                <a:latin typeface="Pretendard Medium"/>
              </a:defRPr>
            </a:pPr>
            <a:r>
              <a:rPr sz="1000" b="0">
                <a:solidFill>
                  <a:srgbClr val="171717"/>
                </a:solidFill>
                <a:latin typeface="Pretendard Medium"/>
                <a:ea typeface="Pretendard Medium"/>
                <a:cs typeface="Pretendard Medium"/>
              </a:rPr>
              <a:t>81.3%</a:t>
            </a:r>
          </a:p>
          <a:p>
            <a:pPr algn="r">
              <a:lnSpc>
                <a:spcPct val="145000"/>
              </a:lnSpc>
              <a:defRPr sz="1000">
                <a:solidFill>
                  <a:srgbClr val="4D4D4D"/>
                </a:solidFill>
                <a:latin typeface="Pretendard"/>
              </a:defRPr>
            </a:pPr>
            <a:r>
              <a:rPr sz="100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92.6%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64224" y="4590288"/>
            <a:ext cx="5166360" cy="1700784"/>
          </a:xfrm>
          <a:prstGeom prst="roundRect">
            <a:avLst>
              <a:gd name="adj" fmla="val 6720"/>
            </a:avLst>
          </a:prstGeom>
          <a:solidFill>
            <a:srgbClr val="FFFFFF"/>
          </a:solidFill>
          <a:ln w="9525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4764024"/>
            <a:ext cx="469087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defRPr sz="1050">
                <a:solidFill>
                  <a:srgbClr val="171717"/>
                </a:solidFill>
                <a:latin typeface="Pretendard SemiBold"/>
              </a:defRPr>
            </a:pPr>
            <a:r>
              <a:rPr sz="1050" b="0">
                <a:solidFill>
                  <a:srgbClr val="171717"/>
                </a:solidFill>
                <a:latin typeface="Pretendard SemiBold"/>
                <a:ea typeface="Pretendard SemiBold"/>
                <a:cs typeface="Pretendard SemiBold"/>
              </a:rPr>
              <a:t>쌍을 늘려도 벽이 있습니다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5010912"/>
            <a:ext cx="469087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defRPr sz="1000">
                <a:solidFill>
                  <a:srgbClr val="4D4D4D"/>
                </a:solidFill>
                <a:latin typeface="Pretendard"/>
              </a:defRPr>
            </a:pPr>
            <a:r>
              <a:rPr sz="100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후보를 121쌍으로 늘려도 12쌍만 복원됩니다.</a:t>
            </a:r>
          </a:p>
          <a:p>
            <a:pPr algn="l">
              <a:lnSpc>
                <a:spcPct val="130000"/>
              </a:lnSpc>
              <a:defRPr sz="1000">
                <a:solidFill>
                  <a:srgbClr val="4D4D4D"/>
                </a:solidFill>
                <a:latin typeface="Pretendard"/>
              </a:defRPr>
            </a:pPr>
            <a:r>
              <a:rPr sz="100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일관성 필터를 걸면 정밀도는 오르지만 커버리지가 무너집니다.</a:t>
            </a:r>
          </a:p>
          <a:p>
            <a:pPr algn="l">
              <a:lnSpc>
                <a:spcPct val="130000"/>
              </a:lnSpc>
              <a:defRPr sz="400">
                <a:solidFill>
                  <a:srgbClr val="4D4D4D"/>
                </a:solidFill>
                <a:latin typeface="Pretendard"/>
              </a:defRPr>
            </a:pPr>
            <a:r>
              <a:rPr sz="40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pPr algn="l">
              <a:lnSpc>
                <a:spcPct val="130000"/>
              </a:lnSpc>
              <a:defRPr sz="1000">
                <a:solidFill>
                  <a:srgbClr val="171717"/>
                </a:solidFill>
                <a:latin typeface="Pretendard Medium"/>
              </a:defRPr>
            </a:pPr>
            <a:r>
              <a:rPr sz="1000" b="0">
                <a:solidFill>
                  <a:srgbClr val="171717"/>
                </a:solidFill>
                <a:latin typeface="Pretendard Medium"/>
                <a:ea typeface="Pretendard Medium"/>
                <a:cs typeface="Pretendard Medium"/>
              </a:rPr>
              <a:t>원인은 쌍 개수가 아니라 무늬 부족입니다.</a:t>
            </a:r>
          </a:p>
          <a:p>
            <a:pPr algn="l">
              <a:lnSpc>
                <a:spcPct val="130000"/>
              </a:lnSpc>
              <a:defRPr sz="1000">
                <a:solidFill>
                  <a:srgbClr val="4D4D4D"/>
                </a:solidFill>
                <a:latin typeface="Pretendard"/>
              </a:defRPr>
            </a:pPr>
            <a:r>
              <a:rPr sz="100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그래서 전방위는 실루엣 기반으로 갔습니다 (앞 장).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